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맑은 고딕"/>
              </a:rPr>
              <a:t>AI 협업 워크플로우
설계 템플릿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DD7EE"/>
                </a:solidFill>
                <a:latin typeface="맑은 고딕"/>
              </a:rPr>
              <a:t>Module 4 실습 — 팀별 워크숍 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DD7EE"/>
                </a:solidFill>
                <a:latin typeface="맑은 고딕"/>
              </a:rPr>
              <a:t>팀명:  ___________    작성일:  ___________    발표자:  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EA9C8"/>
                </a:solidFill>
                <a:latin typeface="맑은 고딕"/>
              </a:rPr>
              <a:t>LIG D&amp;A 인재개발팀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맑은 고딕"/>
              </a:rPr>
              <a:t>📋  워크숍 진행 안내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3864"/>
                </a:solidFill>
                <a:latin typeface="맑은 고딕"/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시간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활동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기획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10분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대상 업무 선정, 역할 분담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Slide 3 작성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생성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25분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AI 초안 생성 (GPT 활용)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Slide 4~5 작성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검증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20분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오류 검증 미션 (제안서 샘플 분석)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별도 배포 파일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발표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10분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팀별 결과 발표 (3분/팀)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Slide 8 기준 발표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피드백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5분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강사 총평 및 현업 적용 방안 논의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자유 Q&amp;A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1148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맑은 고딕"/>
              </a:rPr>
              <a:t>💡  각 슬라이드의 빈칸을 직접 채우며 진행하세요. 완성된 설계서는 현업 복귀 후 실제 업무 프로세스 개선 자료로 활용할 수 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864"/>
                </a:solidFill>
                <a:latin typeface="맑은 고딕"/>
              </a:rPr>
              <a:t>STEP 1  |  팀 정보 &amp; 대상 업무 선정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3864"/>
                </a:solidFill>
                <a:latin typeface="맑은 고딕"/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5334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내용 (직접 입력)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팀명 / 참여자 (이름)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/>
                </a:tc>
              </a:tr>
              <a:tr h="5334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대상 업무명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AI 도입 전 현재 방식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/>
                </a:tc>
              </a:tr>
              <a:tr h="5334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가장 큰 불편함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기대하는 변화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3891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맑은 고딕"/>
              </a:rPr>
              <a:t>🎯  대상 업무 예시: 주간 보고서 작성 / 기술 문서 검색 / 품질 데이터 분석 / 제안서 초안 작성 / 장비 이상 판단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864"/>
                </a:solidFill>
                <a:latin typeface="맑은 고딕"/>
              </a:rPr>
              <a:t>STEP 2  |  AS-IS 프로세스 (현재 업무 흐름)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3864"/>
                </a:solidFill>
                <a:latin typeface="맑은 고딕"/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맑은 고딕"/>
              </a:rPr>
              <a:t>현재 대상 업무의 처리 흐름을 순서대로 작성하세요. 각 단계에서 걸리는 시간과 담당자를 함께 기록하면 좋습니다.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87828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활동 내용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담당자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소요 시간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주요 불편함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1단계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/>
                </a:tc>
              </a:tr>
              <a:tr h="587828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2단계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3단계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/>
                </a:tc>
              </a:tr>
              <a:tr h="587828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4단계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5단계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/>
                </a:tc>
              </a:tr>
              <a:tr h="587832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총 소요 시간: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864"/>
                </a:solidFill>
                <a:latin typeface="맑은 고딕"/>
              </a:rPr>
              <a:t>STEP 3  |  TO-BE 프로세스 (AI 도입 후 업무 흐름)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3864"/>
                </a:solidFill>
                <a:latin typeface="맑은 고딕"/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679268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활동 내용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AI 담당 여부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사람 담당 여부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HITL 지점?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예상 소요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1단계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□ AI  □ 사람  □ 협업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□ 필요  □ 불필요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□ 예  □ 아니오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/>
                </a:tc>
              </a:tr>
              <a:tr h="679268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2단계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□ AI  □ 사람  □ 협업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□ 필요  □ 불필요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□ 예  □ 아니오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3단계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□ AI  □ 사람  □ 협업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□ 필요  □ 불필요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□ 예  □ 아니오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/>
                </a:tc>
              </a:tr>
              <a:tr h="679268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4단계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□ AI  □ 사람  □ 협업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□ 필요  □ 불필요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□ 예  □ 아니오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5단계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□ AI  □ 사람  □ 협업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□ 필요  □ 불필요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□ 예  □ 아니오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/>
                </a:tc>
              </a:tr>
              <a:tr h="679272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총 소요: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864"/>
                </a:solidFill>
                <a:latin typeface="맑은 고딕"/>
              </a:rPr>
              <a:t>STEP 4  |  AI 도구 선택 매트릭스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3864"/>
                </a:solidFill>
                <a:latin typeface="맑은 고딕"/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맑은 고딕"/>
              </a:rPr>
              <a:t>각 단계에 사용할 AI 도구를 선택하고 선택 이유를 간략히 기재하세요.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47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4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GPTs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(Module 1)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ADA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데이터분석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(Module 2)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RAG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문서검색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(Module 3)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일반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ChatGPT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사용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안 함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선택 이유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1단계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□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□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□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□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□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/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2단계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□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□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□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□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□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3단계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□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□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□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□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□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/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4단계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□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□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□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□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□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5단계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□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□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□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□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□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맑은 고딕"/>
              </a:rPr>
              <a:t>💡 GPTs: 반복적 문서 생성, 봇 응대 │ ADA: 데이터 분석·시각화 │ RAG: 사내 문서 검색·질의응답 │ 일반 ChatGPT: 아이디어 생성, 요약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864"/>
                </a:solidFill>
                <a:latin typeface="맑은 고딕"/>
              </a:rPr>
              <a:t>STEP 5  |  Human-in-the-Loop (HITL) 체크포인트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3864"/>
                </a:solidFill>
                <a:latin typeface="맑은 고딕"/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맑은 고딕"/>
              </a:rPr>
              <a:t>AI 결과물에 반드시 사람이 검토·승인해야 하는 지점을 사전에 정의합니다.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체크포인트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AI 산출물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검증 담당자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검증 방법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승인 기준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CP-1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/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CP-2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CP-3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/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최종 배포 전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최종 결과물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책임자 서명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팩트·논리·보안 5축 검증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승인 서명 완료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846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맑은 고딕"/>
              </a:rPr>
              <a:t>⚠  HITL 없이 AI 결과물을 외부 발송·프로덕션 배포하는 것은 절대 금지!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3864"/>
                </a:solidFill>
                <a:latin typeface="맑은 고딕"/>
              </a:rPr>
              <a:t>AI는 초안을 만들고, 사람이 최종 판단과 책임을 집니다.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864"/>
                </a:solidFill>
                <a:latin typeface="맑은 고딕"/>
              </a:rPr>
              <a:t>STEP 6  |  기대 효과 &amp; KPI 설정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3864"/>
                </a:solidFill>
                <a:latin typeface="맑은 고딕"/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791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KPI 항목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현재 (AS-IS)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목표 (TO-BE)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측정 방법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측정 주기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대상 업무 소요 시간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___ 시간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___ 시간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월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반복 작업 처리 건수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___ 건/일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___ 건/일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주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오류 발생 건수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___ 건/월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___ 건/월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월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담당자 만족도 (5점)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___점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___점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설문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분기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사용자 정의 KPI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663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3864"/>
                </a:solidFill>
                <a:latin typeface="맑은 고딕"/>
              </a:rPr>
              <a:t>✅  정성적 기대 효과 (자유 기재):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1206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①  ___________________________
②  ___________________________
③  ___________________________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864"/>
                </a:solidFill>
                <a:latin typeface="맑은 고딕"/>
              </a:rPr>
              <a:t>STEP 7  |  리스크 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3864"/>
                </a:solidFill>
                <a:latin typeface="맑은 고딕"/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6096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리스크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발생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가능성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(상/중/하)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영향도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(상/중/하)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위험도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대응 방안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담당자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AI 오답 (할루시네이션)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상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중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● 높음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HITL 체크포인트 설계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/>
                </a:tc>
              </a:tr>
              <a:tr h="6096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업로드 금지 데이터 실수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중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상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● 높음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업로드 전 보안 체크리스트 확인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시스템 오류·중단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하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상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○ 중간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대안 수동 프로세스 유지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/>
                </a:tc>
              </a:tr>
              <a:tr h="6096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사용자 저항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중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중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○ 중간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변화 관리, 교육 강화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팀 자체 정의 리스크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846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맑은 고딕"/>
              </a:rPr>
              <a:t>위험도 기준:  ● 높음(발생가능 상×영향 상/중) → 즉시 대응 계획 수립  │  ○ 중간 → 모니터링  │  ◌ 낮음 → 수용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864"/>
                </a:solidFill>
                <a:latin typeface="맑은 고딕"/>
              </a:rPr>
              <a:t>STEP 8  |  우리 팀 AI 활용 규칙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3864"/>
                </a:solidFill>
                <a:latin typeface="맑은 고딕"/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79248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우리 팀 규칙 (직접 작성)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절대 업로드 금지 데이터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예: 개인정보, 비밀등급 문서, 내부 단가 정보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+  우리 팀:  ___________________________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AI 결과물 배포 전 필수 확인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예: 팩트 검증, 수치 확인, 보안 정보 삭제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+  우리 팀:  ___________________________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AI 사용 기록 관리 방법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예: 프롬프트 및 결과물 팀 폴더에 저장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+  우리 팀:  ___________________________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AI 오류 발생 시 처리 절차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예: 즉시 담당자에게 보고 → 수동 처리 전환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+  우리 팀:  ___________________________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AI 활용 성과 공유 방법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예: 월 1회 팀 회의에서 사용 사례 발표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+  우리 팀:  ___________________________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3분 발표 타임라인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맑은 고딕"/>
                        </a:rPr>
                        <a:t>시간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맑은 고딕"/>
                        </a:rPr>
                        <a:t>발표 내용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맑은 고딕"/>
                        </a:rPr>
                        <a:t>핵심 포인트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0:00~0:40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문제 정의 (Slide 3)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현재 불편함을 생생하게 설명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0:40~1:30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AI 도구 선택 결과 (Slide 6)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왜 이 도구를 선택했는지 이유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1:30~2:20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HITL &amp; 기대 효과 (Slide 7~8)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가장 큰 기대 효과 1가지 강조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2:20~3:00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팀 규칙 + Q&amp;A (Slide 10)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우리 팀만의 차별화 포인트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7548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BDD7EE"/>
                </a:solidFill>
                <a:latin typeface="맑은 고딕"/>
              </a:rPr>
              <a:t>🎤  자신감 있게! 완벽하지 않아도 됩니다. 우리 팀의 생각을 나누는 것이 목표입니다.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EA9C8"/>
                </a:solidFill>
                <a:latin typeface="맑은 고딕"/>
              </a:rPr>
              <a:t>발표 후 강사 피드백 → 현업 적용 아이디어 공유 → 수료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